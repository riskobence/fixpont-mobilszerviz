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bdabc938-a05a-57c1-2d12-0619b6c31e38}">
          <p14:sldIdLst>
            <p14:sldId id="256"/>
          </p14:sldIdLst>
        </p14:section>
        <p14:section name="Vállalkozás" id="{da9823b6-b3a3-2cd6-8961-5ad753910f88}">
          <p14:sldIdLst>
            <p14:sldId id="257"/>
            <p14:sldId id="258"/>
            <p14:sldId id="259"/>
            <p14:sldId id="260"/>
            <p14:sldId id="261"/>
          </p14:sldIdLst>
        </p14:section>
        <p14:section name="Számok" id="{bf8dd174-8b1e-4369-df02-6bede083bdab}">
          <p14:sldIdLst>
            <p14:sldId id="262"/>
            <p14:sldId id="263"/>
          </p14:sldIdLst>
        </p14:section>
        <p14:section name="Digitális jelenlét" id="{86e324d6-3549-5fe7-47db-69a084664e7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Havi bevétel és kiadás (2025, millió Ft)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Bevétel</c:v>
                </c:pt>
              </c:strCache>
            </c:strRef>
          </c:tx>
          <c:spPr>
            <a:solidFill>
              <a:srgbClr val="FF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Már</c:v>
                  </c:pt>
                  <c:pt idx="3">
                    <c:v>Ápr</c:v>
                  </c:pt>
                  <c:pt idx="4">
                    <c:v>Máj</c:v>
                  </c:pt>
                  <c:pt idx="5">
                    <c:v>Jún</c:v>
                  </c:pt>
                  <c:pt idx="6">
                    <c:v>Júl</c:v>
                  </c:pt>
                  <c:pt idx="7">
                    <c:v>Aug</c:v>
                  </c:pt>
                  <c:pt idx="8">
                    <c:v>Szep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1.18</c:v>
                </c:pt>
                <c:pt idx="1">
                  <c:v>1.24</c:v>
                </c:pt>
                <c:pt idx="2">
                  <c:v>1.42</c:v>
                </c:pt>
                <c:pt idx="3">
                  <c:v>1.35</c:v>
                </c:pt>
                <c:pt idx="4">
                  <c:v>1.51</c:v>
                </c:pt>
                <c:pt idx="5">
                  <c:v>1.48</c:v>
                </c:pt>
                <c:pt idx="6">
                  <c:v>1.39</c:v>
                </c:pt>
                <c:pt idx="7">
                  <c:v>1.56</c:v>
                </c:pt>
                <c:pt idx="8">
                  <c:v>1.72</c:v>
                </c:pt>
                <c:pt idx="9">
                  <c:v>1.69</c:v>
                </c:pt>
                <c:pt idx="10">
                  <c:v>1.83</c:v>
                </c:pt>
                <c:pt idx="11">
                  <c:v>2.05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Kiadás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Már</c:v>
                  </c:pt>
                  <c:pt idx="3">
                    <c:v>Ápr</c:v>
                  </c:pt>
                  <c:pt idx="4">
                    <c:v>Máj</c:v>
                  </c:pt>
                  <c:pt idx="5">
                    <c:v>Jún</c:v>
                  </c:pt>
                  <c:pt idx="6">
                    <c:v>Júl</c:v>
                  </c:pt>
                  <c:pt idx="7">
                    <c:v>Aug</c:v>
                  </c:pt>
                  <c:pt idx="8">
                    <c:v>Szep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1.059</c:v>
                </c:pt>
                <c:pt idx="1">
                  <c:v>1.077</c:v>
                </c:pt>
                <c:pt idx="2">
                  <c:v>1.132</c:v>
                </c:pt>
                <c:pt idx="3">
                  <c:v>1.11</c:v>
                </c:pt>
                <c:pt idx="4">
                  <c:v>1.159</c:v>
                </c:pt>
                <c:pt idx="5">
                  <c:v>1.15</c:v>
                </c:pt>
                <c:pt idx="6">
                  <c:v>1.123</c:v>
                </c:pt>
                <c:pt idx="7">
                  <c:v>1.174</c:v>
                </c:pt>
                <c:pt idx="8">
                  <c:v>1.223</c:v>
                </c:pt>
                <c:pt idx="9">
                  <c:v>1.214</c:v>
                </c:pt>
                <c:pt idx="10">
                  <c:v>1.256</c:v>
                </c:pt>
                <c:pt idx="11">
                  <c:v>1.323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Éves kiadás-megoszlás (2025)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Éves kiadás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A1A"/>
              </a:solidFill>
              <a:effectLst/>
            </c:spPr>
          </c:dPt>
          <c:dPt>
            <c:idx val="1"/>
            <c:bubble3D val="0"/>
            <c:spPr>
              <a:solidFill>
                <a:srgbClr val="1F2A44"/>
              </a:solidFill>
              <a:effectLst/>
            </c:spPr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bubble3D val="0"/>
            <c:spPr>
              <a:solidFill>
                <a:srgbClr val="FFB347"/>
              </a:solidFill>
              <a:effectLst/>
            </c:spPr>
          </c:dPt>
          <c:dPt>
            <c:idx val="4"/>
            <c:bubble3D val="0"/>
            <c:spPr>
              <a:solidFill>
                <a:srgbClr val="475569"/>
              </a:solidFill>
              <a:effectLst/>
            </c:spPr>
          </c:dPt>
          <c:dPt>
            <c:idx val="5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Alkatrészek</c:v>
                </c:pt>
                <c:pt idx="1">
                  <c:v>Bérek és járulékok</c:v>
                </c:pt>
                <c:pt idx="2">
                  <c:v>Bérleti díj</c:v>
                </c:pt>
                <c:pt idx="3">
                  <c:v>Rezsi</c:v>
                </c:pt>
                <c:pt idx="4">
                  <c:v>Marketing</c:v>
                </c:pt>
                <c:pt idx="5">
                  <c:v>Egyéb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5600000</c:v>
                </c:pt>
                <c:pt idx="1">
                  <c:v>4800000</c:v>
                </c:pt>
                <c:pt idx="2">
                  <c:v>1920000</c:v>
                </c:pt>
                <c:pt idx="3">
                  <c:v>540000</c:v>
                </c:pt>
                <c:pt idx="4">
                  <c:v>480000</c:v>
                </c:pt>
                <c:pt idx="5">
                  <c:v>660000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Köszöntés, a vállalkozás bemutatása: a FixPont egy kitalált mobiltelefon-szerviz mikrovállalkozás.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küldetés lényege a gyorsaság és az átláthatóság. A három szám a vállalkozás ígéretei.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 fő szolgáltatási csoport. A részletes árakat a következő dián mutatjuk.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kezdő árak fix árak a leggyakoribb típusokra, a többi típusnál előzetes árajánlatot adunk.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Négy lépéses folyamat, minden lépésnél az átláthatóság a cél.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célcsoport tág, de a fő bázis a 18–40 éves, okostelefonra támaszkodó réteg.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két grafikon a forgalmi Excel munkafüzet (2. rész) Összesítés munkalapjáról származik: bal oldalt a havi bevétel és kiadás oszlopdiagramja, jobb oldalt az éves kiadás-megoszlás perec (fánk) diagramja. A diagramok ugyanazok, mint a forgalmi munkafüzetben.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adatok kitalált, a forgalmi Excel munkafüzetből (2. rész) származnak. Nyereség = bevétel – kiadás.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weblapról az összes projektdokumentum elérhető, az űrlap linkje is itt található.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Zárás, kapcsolati adatok. A cím és elérhetőségek kitalált.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11827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FixPont Mobilszerviz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11827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FixPont Mobilszerviz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FixPont Mobilszerviz</a:t>
            </a:r>
            <a:endParaRPr lang="en-US" sz="4000" dirty="0"/>
          </a:p>
        </p:txBody>
      </p:sp>
      <p:sp>
        <p:nvSpPr>
          <p:cNvPr id="3" name="alcím"/>
          <p:cNvSpPr txBox="1"/>
          <p:nvPr/>
        </p:nvSpPr>
        <p:spPr>
          <a:xfrm>
            <a:off x="54864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</a:rPr>
              <a:t>Gyors, átlátható, garanciális mobiljavítás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Vállalkozásbemutató  |  2026</a:t>
            </a:r>
            <a:endParaRPr lang="en-US" sz="1200" dirty="0"/>
          </a:p>
        </p:txBody>
      </p:sp>
      <p:pic>
        <p:nvPicPr>
          <p:cNvPr id="5" name="Image 0" descr="Okostelefon ellenőrző jell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11480"/>
            <a:ext cx="37490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Küldetésünk</a:t>
            </a:r>
            <a:endParaRPr lang="en-US" sz="3400" dirty="0"/>
          </a:p>
        </p:txBody>
      </p:sp>
      <p:sp>
        <p:nvSpPr>
          <p:cNvPr id="3" name="küldetés"/>
          <p:cNvSpPr txBox="1"/>
          <p:nvPr/>
        </p:nvSpPr>
        <p:spPr>
          <a:xfrm>
            <a:off x="548640" y="12344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Hogy ne kelljen napokig telefon nélkül maradni. A legtöbb hibát várakozás közben, a szemed előtt javítjuk meg – fix áron, garanciával.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Kis csapat, nagy figyelem: minden javítás előtt ingyenes hibafelmérést adunk.</a:t>
            </a:r>
            <a:endParaRPr lang="en-US" sz="1400" dirty="0"/>
          </a:p>
        </p:txBody>
      </p:sp>
      <p:sp>
        <p:nvSpPr>
          <p:cNvPr id="5" name="kártya"/>
          <p:cNvSpPr/>
          <p:nvPr/>
        </p:nvSpPr>
        <p:spPr>
          <a:xfrm>
            <a:off x="5029200" y="118872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40A"/>
                </a:solidFill>
              </a:rPr>
              <a:t>30 perc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átlagos javítási idő gyakori hibáknál</a:t>
            </a:r>
            <a:endParaRPr lang="en-US" sz="1400" dirty="0"/>
          </a:p>
        </p:txBody>
      </p:sp>
      <p:sp>
        <p:nvSpPr>
          <p:cNvPr id="8" name="kártya"/>
          <p:cNvSpPr/>
          <p:nvPr/>
        </p:nvSpPr>
        <p:spPr>
          <a:xfrm>
            <a:off x="5029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40A"/>
                </a:solidFill>
              </a:rPr>
              <a:t>6 hónap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garancia alkatrészre és munkadíjra</a:t>
            </a:r>
            <a:endParaRPr lang="en-US" sz="1400" dirty="0"/>
          </a:p>
        </p:txBody>
      </p:sp>
      <p:sp>
        <p:nvSpPr>
          <p:cNvPr id="11" name="kártya"/>
          <p:cNvSpPr/>
          <p:nvPr/>
        </p:nvSpPr>
        <p:spPr>
          <a:xfrm>
            <a:off x="5029200" y="338328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40A"/>
                </a:solidFill>
              </a:rPr>
              <a:t>2 fő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szakember + 1 ügyfélkapcsolati munkatárs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Szolgáltatásaink</a:t>
            </a:r>
            <a:endParaRPr lang="en-US" sz="3400" dirty="0"/>
          </a:p>
        </p:txBody>
      </p:sp>
      <p:sp>
        <p:nvSpPr>
          <p:cNvPr id="3" name="szolgáltatás-kártya"/>
          <p:cNvSpPr/>
          <p:nvPr/>
        </p:nvSpPr>
        <p:spPr>
          <a:xfrm>
            <a:off x="548640" y="1188720"/>
            <a:ext cx="25420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-kör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5" name="Image 0" descr="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Kijelzőcsere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Törött vagy hibás kijelző eredeti minőségű cseréje</a:t>
            </a:r>
            <a:endParaRPr lang="en-US" sz="1400" dirty="0"/>
          </a:p>
        </p:txBody>
      </p:sp>
      <p:sp>
        <p:nvSpPr>
          <p:cNvPr id="8" name="szolgáltatás-kártya"/>
          <p:cNvSpPr/>
          <p:nvPr/>
        </p:nvSpPr>
        <p:spPr>
          <a:xfrm>
            <a:off x="3273552" y="1188720"/>
            <a:ext cx="25420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-kör"/>
          <p:cNvSpPr/>
          <p:nvPr/>
        </p:nvSpPr>
        <p:spPr>
          <a:xfrm>
            <a:off x="3456432" y="1371600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0" name="Image 1" descr="batte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62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96512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Akkumulátorcsere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Gyors töltés-lemerülés probléma végleges megoldása</a:t>
            </a:r>
            <a:endParaRPr lang="en-US" sz="1400" dirty="0"/>
          </a:p>
        </p:txBody>
      </p:sp>
      <p:sp>
        <p:nvSpPr>
          <p:cNvPr id="13" name="szolgáltatás-kártya"/>
          <p:cNvSpPr/>
          <p:nvPr/>
        </p:nvSpPr>
        <p:spPr>
          <a:xfrm>
            <a:off x="5998464" y="1188720"/>
            <a:ext cx="25420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-kör"/>
          <p:cNvSpPr/>
          <p:nvPr/>
        </p:nvSpPr>
        <p:spPr>
          <a:xfrm>
            <a:off x="6181344" y="1371600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5" name="Image 2" descr="pl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074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21424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Töltőcsatlakozó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81344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Csatlakozó tisztítása vagy cseréje</a:t>
            </a:r>
            <a:endParaRPr lang="en-US" sz="1400" dirty="0"/>
          </a:p>
        </p:txBody>
      </p:sp>
      <p:sp>
        <p:nvSpPr>
          <p:cNvPr id="18" name="szolgáltatás-kártya"/>
          <p:cNvSpPr/>
          <p:nvPr/>
        </p:nvSpPr>
        <p:spPr>
          <a:xfrm>
            <a:off x="548640" y="2926080"/>
            <a:ext cx="25420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-kör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0" name="Image 3" descr="wa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34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Vízkár-kezelés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Ultrahangos tisztítás és alaplap-diagnosztika</a:t>
            </a:r>
            <a:endParaRPr lang="en-US" sz="1400" dirty="0"/>
          </a:p>
        </p:txBody>
      </p:sp>
      <p:sp>
        <p:nvSpPr>
          <p:cNvPr id="23" name="szolgáltatás-kártya"/>
          <p:cNvSpPr/>
          <p:nvPr/>
        </p:nvSpPr>
        <p:spPr>
          <a:xfrm>
            <a:off x="3273552" y="2926080"/>
            <a:ext cx="25420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-kör"/>
          <p:cNvSpPr/>
          <p:nvPr/>
        </p:nvSpPr>
        <p:spPr>
          <a:xfrm>
            <a:off x="3456432" y="3108960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5" name="Image 4" descr="bu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162" y="323469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96512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Szoftveres hibák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Rendszerhelyreállítás, adatmentés, frissítés</a:t>
            </a:r>
            <a:endParaRPr lang="en-US" sz="1400" dirty="0"/>
          </a:p>
        </p:txBody>
      </p:sp>
      <p:sp>
        <p:nvSpPr>
          <p:cNvPr id="28" name="szolgáltatás-kártya"/>
          <p:cNvSpPr/>
          <p:nvPr/>
        </p:nvSpPr>
        <p:spPr>
          <a:xfrm>
            <a:off x="5998464" y="2926080"/>
            <a:ext cx="25420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-kör"/>
          <p:cNvSpPr/>
          <p:nvPr/>
        </p:nvSpPr>
        <p:spPr>
          <a:xfrm>
            <a:off x="6181344" y="3108960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30" name="Image 5" descr="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074" y="323469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21424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Védelem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181344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Üvegfólia és tok felhelyezése a javítás mellé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Árlista</a:t>
            </a:r>
            <a:endParaRPr lang="en-US" sz="3400" dirty="0"/>
          </a:p>
        </p:txBody>
      </p:sp>
      <p:graphicFrame>
        <p:nvGraphicFramePr>
          <p:cNvPr id="5" name="árlista-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Kijelzőcsere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18 900 Ft-tól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45–60 perc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Akkumulátorcsere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9 900 Ft-tól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20–30 perc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Töltőcsatlakozó csere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8 900 Ft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30–40 perc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Hátlapcsere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11 900 Ft-tól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40 perc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Vízkár-kezelés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12 900 Ft-tól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1–2 nap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Szoftveres hibaelhárítás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5 900 Ft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30 perc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Hibafelmérés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Javításnál ingyenes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10 perc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Az árak tájékoztató jellegűek, a végleges ár típusfüggő. Minden ár tartalmazza az ÁFA-t.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Így dolgozunk</a:t>
            </a:r>
            <a:endParaRPr lang="en-US" sz="3400" dirty="0"/>
          </a:p>
        </p:txBody>
      </p:sp>
      <p:sp>
        <p:nvSpPr>
          <p:cNvPr id="3" name="lépés-kártya"/>
          <p:cNvSpPr/>
          <p:nvPr/>
        </p:nvSpPr>
        <p:spPr>
          <a:xfrm>
            <a:off x="548640" y="1280160"/>
            <a:ext cx="1874520" cy="25603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-kör"/>
          <p:cNvSpPr/>
          <p:nvPr/>
        </p:nvSpPr>
        <p:spPr>
          <a:xfrm>
            <a:off x="1188720" y="146304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5" name="Image 0" descr="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16116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Bejelentkezés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Online foglalás vagy személyes bejövetel</a:t>
            </a:r>
            <a:endParaRPr lang="en-US" sz="1400" dirty="0"/>
          </a:p>
        </p:txBody>
      </p:sp>
      <p:sp>
        <p:nvSpPr>
          <p:cNvPr id="8" name="lépés-kártya"/>
          <p:cNvSpPr/>
          <p:nvPr/>
        </p:nvSpPr>
        <p:spPr>
          <a:xfrm>
            <a:off x="2606040" y="1280160"/>
            <a:ext cx="1874520" cy="25603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-kör"/>
          <p:cNvSpPr/>
          <p:nvPr/>
        </p:nvSpPr>
        <p:spPr>
          <a:xfrm>
            <a:off x="3246120" y="146304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0" name="Image 1" descr="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10" y="16116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Hibafelmérés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Ingyenes diagnosztika, fix árajánlat</a:t>
            </a:r>
            <a:endParaRPr lang="en-US" sz="1400" dirty="0"/>
          </a:p>
        </p:txBody>
      </p:sp>
      <p:sp>
        <p:nvSpPr>
          <p:cNvPr id="13" name="lépés-kártya"/>
          <p:cNvSpPr/>
          <p:nvPr/>
        </p:nvSpPr>
        <p:spPr>
          <a:xfrm>
            <a:off x="4663440" y="1280160"/>
            <a:ext cx="1874520" cy="25603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-kör"/>
          <p:cNvSpPr/>
          <p:nvPr/>
        </p:nvSpPr>
        <p:spPr>
          <a:xfrm>
            <a:off x="5303520" y="146304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5" name="Image 2" descr="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10" y="16116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Javítás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Többnyire várakozás közben, 30–60 perc</a:t>
            </a:r>
            <a:endParaRPr lang="en-US" sz="1400" dirty="0"/>
          </a:p>
        </p:txBody>
      </p:sp>
      <p:sp>
        <p:nvSpPr>
          <p:cNvPr id="18" name="lépés-kártya"/>
          <p:cNvSpPr/>
          <p:nvPr/>
        </p:nvSpPr>
        <p:spPr>
          <a:xfrm>
            <a:off x="6720840" y="1280160"/>
            <a:ext cx="1874520" cy="25603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-kör"/>
          <p:cNvSpPr/>
          <p:nvPr/>
        </p:nvSpPr>
        <p:spPr>
          <a:xfrm>
            <a:off x="7360920" y="146304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0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510" y="16116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4. Átadás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Tesztelés, számla és 6 hónap garancia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Miért a FixPont?</a:t>
            </a:r>
            <a:endParaRPr lang="en-US" sz="3400" dirty="0"/>
          </a:p>
        </p:txBody>
      </p:sp>
      <p:sp>
        <p:nvSpPr>
          <p:cNvPr id="3" name="ikon-kör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4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Gyorsaság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45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 gyakori hibák többségét még aznap megjavítjuk.</a:t>
            </a:r>
            <a:endParaRPr lang="en-US" sz="1400" dirty="0"/>
          </a:p>
        </p:txBody>
      </p:sp>
      <p:sp>
        <p:nvSpPr>
          <p:cNvPr id="7" name="ikon-kör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8" name="Image 1" descr="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5374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Garancia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6 hónap garancia – írásban, a számlán.</a:t>
            </a:r>
            <a:endParaRPr lang="en-US" sz="1400" dirty="0"/>
          </a:p>
        </p:txBody>
      </p:sp>
      <p:sp>
        <p:nvSpPr>
          <p:cNvPr id="11" name="ikon-kör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2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5890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337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Személyes kapcsolat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Kis csapat, közvetlen kapcsolat, nincs ügyfélszolgálati labirintus.</a:t>
            </a:r>
            <a:endParaRPr lang="en-US" sz="1400" dirty="0"/>
          </a:p>
        </p:txBody>
      </p:sp>
      <p:sp>
        <p:nvSpPr>
          <p:cNvPr id="15" name="célcsoport-kártya"/>
          <p:cNvSpPr/>
          <p:nvPr/>
        </p:nvSpPr>
        <p:spPr>
          <a:xfrm>
            <a:off x="5120640" y="1234440"/>
            <a:ext cx="3474720" cy="3108960"/>
          </a:xfrm>
          <a:prstGeom prst="roundRect">
            <a:avLst>
              <a:gd name="adj" fmla="val 4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39496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Célcsoportunk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19202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Diákok és fiatal felnőttek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Dolgozók, akiknek a telefon munkaeszköz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Családok, idősebb felhasználók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Forgalmi adataink</a:t>
            </a:r>
            <a:endParaRPr lang="en-US" sz="3400" dirty="0"/>
          </a:p>
        </p:txBody>
      </p:sp>
      <p:sp>
        <p:nvSpPr>
          <p:cNvPr id="3" name="chart-kártya-1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143000"/>
          <a:ext cx="48463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-kártya-2"/>
          <p:cNvSpPr/>
          <p:nvPr/>
        </p:nvSpPr>
        <p:spPr>
          <a:xfrm>
            <a:off x="5623560" y="1097280"/>
            <a:ext cx="3063240" cy="3520440"/>
          </a:xfrm>
          <a:prstGeom prst="roundRect">
            <a:avLst>
              <a:gd name="adj" fmla="val 29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graphicFrame>
        <p:nvGraphicFramePr>
          <p:cNvPr id="6" name="Chart 1" descr=""/>
          <p:cNvGraphicFramePr/>
          <p:nvPr/>
        </p:nvGraphicFramePr>
        <p:xfrm>
          <a:off x="5669280" y="1143000"/>
          <a:ext cx="297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Az első év számokban</a:t>
            </a:r>
            <a:endParaRPr lang="en-US" sz="3400" dirty="0"/>
          </a:p>
        </p:txBody>
      </p:sp>
      <p:sp>
        <p:nvSpPr>
          <p:cNvPr id="3" name="mutató-kártya"/>
          <p:cNvSpPr/>
          <p:nvPr/>
        </p:nvSpPr>
        <p:spPr>
          <a:xfrm>
            <a:off x="548640" y="118872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kon-kör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Éves bevétel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18,42 M Ft</a:t>
            </a:r>
            <a:endParaRPr lang="en-US" sz="2400" dirty="0"/>
          </a:p>
        </p:txBody>
      </p:sp>
      <p:sp>
        <p:nvSpPr>
          <p:cNvPr id="8" name="mutató-kártya"/>
          <p:cNvSpPr/>
          <p:nvPr/>
        </p:nvSpPr>
        <p:spPr>
          <a:xfrm>
            <a:off x="4663440" y="118872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kon-kör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0" name="Image 1" descr="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Éves kiadás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14,00 M Ft</a:t>
            </a:r>
            <a:endParaRPr lang="en-US" sz="2400" dirty="0"/>
          </a:p>
        </p:txBody>
      </p:sp>
      <p:sp>
        <p:nvSpPr>
          <p:cNvPr id="13" name="mutató-kártya"/>
          <p:cNvSpPr/>
          <p:nvPr/>
        </p:nvSpPr>
        <p:spPr>
          <a:xfrm>
            <a:off x="548640" y="256032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kon-kör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Nyereség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4,42 M Ft</a:t>
            </a:r>
            <a:endParaRPr lang="en-US" sz="2400" dirty="0"/>
          </a:p>
        </p:txBody>
      </p:sp>
      <p:sp>
        <p:nvSpPr>
          <p:cNvPr id="18" name="mutató-kártya"/>
          <p:cNvSpPr/>
          <p:nvPr/>
        </p:nvSpPr>
        <p:spPr>
          <a:xfrm>
            <a:off x="4663440" y="256032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kon-kör"/>
          <p:cNvSpPr/>
          <p:nvPr/>
        </p:nvSpPr>
        <p:spPr>
          <a:xfrm>
            <a:off x="4892040" y="288036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0" name="Image 3" descr="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175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Legjobb hónap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December: 2,05 M Ft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Az átlagos havi bevétel 1,53 M Ft; az év második felében a forgalom a szezonális keresletnek köszönhetően nő (új telefonok, téli időszak).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Digitális jelenlétünk</a:t>
            </a:r>
            <a:endParaRPr lang="en-US" sz="3400" dirty="0"/>
          </a:p>
        </p:txBody>
      </p:sp>
      <p:sp>
        <p:nvSpPr>
          <p:cNvPr id="3" name="digitális-kártya"/>
          <p:cNvSpPr/>
          <p:nvPr/>
        </p:nvSpPr>
        <p:spPr>
          <a:xfrm>
            <a:off x="5486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-kör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5" name="Image 0" descr="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6573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Promóciós weblap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Egyoldalas oldal: szolgáltatások, árak, kapcsolat – és minden projektdokumentum egy helyen.</a:t>
            </a:r>
            <a:endParaRPr lang="en-US" sz="1400" dirty="0"/>
          </a:p>
        </p:txBody>
      </p:sp>
      <p:sp>
        <p:nvSpPr>
          <p:cNvPr id="8" name="digitális-kártya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-kör"/>
          <p:cNvSpPr/>
          <p:nvPr/>
        </p:nvSpPr>
        <p:spPr>
          <a:xfrm>
            <a:off x="3520440" y="150876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0" name="Image 1" descr="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6573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Elégedettségi űrlap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Online űrlap (6 kérdés), amellyel az ügyfelek értékelhetik a szolgáltatást.</a:t>
            </a:r>
            <a:endParaRPr lang="en-US" sz="1400" dirty="0"/>
          </a:p>
        </p:txBody>
      </p:sp>
      <p:sp>
        <p:nvSpPr>
          <p:cNvPr id="13" name="digitális-kártya"/>
          <p:cNvSpPr/>
          <p:nvPr/>
        </p:nvSpPr>
        <p:spPr>
          <a:xfrm>
            <a:off x="60350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-kör"/>
          <p:cNvSpPr/>
          <p:nvPr/>
        </p:nvSpPr>
        <p:spPr>
          <a:xfrm>
            <a:off x="6263640" y="1508760"/>
            <a:ext cx="594360" cy="5943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5" name="Image 2" descr="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6573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Dokumentumok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Cégbemutató (Word), forgalmi munkafüzet (Excel), PPT és projekt alapító dokumentum.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Köszönjük a figyelmet!</a:t>
            </a:r>
            <a:endParaRPr lang="en-US" sz="4000" dirty="0"/>
          </a:p>
        </p:txBody>
      </p:sp>
      <p:pic>
        <p:nvPicPr>
          <p:cNvPr id="3" name="Image 0" descr="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7180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1111 Budapest, Minta utca 12.</a:t>
            </a:r>
            <a:endParaRPr lang="en-US" sz="1400" dirty="0"/>
          </a:p>
        </p:txBody>
      </p:sp>
      <p:pic>
        <p:nvPicPr>
          <p:cNvPr id="5" name="Image 1" descr="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55848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3310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+36 30 000 0000</a:t>
            </a:r>
            <a:endParaRPr lang="en-US" sz="1400" dirty="0"/>
          </a:p>
        </p:txBody>
      </p:sp>
      <p:pic>
        <p:nvPicPr>
          <p:cNvPr id="7" name="Image 2" descr="m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28600" cy="228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36941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info@fixpont.example</a:t>
            </a:r>
            <a:endParaRPr lang="en-US" sz="1400" dirty="0"/>
          </a:p>
        </p:txBody>
      </p:sp>
      <p:pic>
        <p:nvPicPr>
          <p:cNvPr id="9" name="Image 3" descr="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2394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60120" y="40782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H–P 9–18, Szo 9–13</a:t>
            </a:r>
            <a:endParaRPr lang="en-US" sz="1400" dirty="0"/>
          </a:p>
        </p:txBody>
      </p:sp>
      <p:pic>
        <p:nvPicPr>
          <p:cNvPr id="11" name="Image 4" descr="Okostelefon ellenőrző jell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640080"/>
            <a:ext cx="3291840" cy="3611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Pont">
  <a:themeElements>
    <a:clrScheme name="FixPont">
      <a:dk1>
        <a:srgbClr val="111827"/>
      </a:dk1>
      <a:lt1>
        <a:srgbClr val="FFFFFF"/>
      </a:lt1>
      <a:dk2>
        <a:srgbClr val="1F2A44"/>
      </a:dk2>
      <a:lt2>
        <a:srgbClr val="F3F4F6"/>
      </a:lt2>
      <a:accent1>
        <a:srgbClr val="FF7A1A"/>
      </a:accent1>
      <a:accent2>
        <a:srgbClr val="1F2A44"/>
      </a:accent2>
      <a:accent3>
        <a:srgbClr val="14B8A6"/>
      </a:accent3>
      <a:accent4>
        <a:srgbClr val="FFB347"/>
      </a:accent4>
      <a:accent5>
        <a:srgbClr val="475569"/>
      </a:accent5>
      <a:accent6>
        <a:srgbClr val="9CA3AF"/>
      </a:accent6>
      <a:hlink>
        <a:srgbClr val="C2540A"/>
      </a:hlink>
      <a:folHlink>
        <a:srgbClr val="475569"/>
      </a:folHlink>
    </a:clrScheme>
    <a:fontScheme name="FixPo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FixPont Mobilszerviz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FixPont Mobilszerviz – bemutató</dc:title>
  <dc:subject>PptxGenJS Presentation</dc:subject>
  <dc:creator>FixPont csapat</dc:creator>
  <cp:lastModifiedBy>FixPont csapat</cp:lastModifiedBy>
  <cp:revision>1</cp:revision>
  <dcterms:created xsi:type="dcterms:W3CDTF">2026-10-25T09:18:43Z</dcterms:created>
  <dcterms:modified xsi:type="dcterms:W3CDTF">2026-10-25T09:18:43Z</dcterms:modified>
</cp:coreProperties>
</file>