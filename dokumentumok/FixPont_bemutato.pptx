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vezetés" id="{BDABC938-A05A-57C1-2D12-0619B6C31E38}">
          <p14:sldIdLst>
            <p14:sldId id="256"/>
          </p14:sldIdLst>
        </p14:section>
        <p14:section name="Vállalkozás" id="{DA9823B6-B3A3-2CD6-8961-5AD753910F88}">
          <p14:sldIdLst>
            <p14:sldId id="257"/>
            <p14:sldId id="258"/>
            <p14:sldId id="259"/>
            <p14:sldId id="260"/>
            <p14:sldId id="261"/>
          </p14:sldIdLst>
        </p14:section>
        <p14:section name="Számok" id="{BF8DD174-8B1E-4369-DF02-6BEDE083BDAB}">
          <p14:sldIdLst>
            <p14:sldId id="262"/>
            <p14:sldId id="263"/>
          </p14:sldIdLst>
        </p14:section>
        <p14:section name="Digitális jelenlét" id="{86E324D6-3549-5FE7-47DB-69A084664E74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91" d="100"/>
          <a:sy n="91" d="100"/>
        </p:scale>
        <p:origin x="78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11827"/>
                </a:solidFill>
                <a:latin typeface="+mn-lt"/>
              </a:defRPr>
            </a:pPr>
            <a:r>
              <a:rPr lang="hu-HU" sz="1300" b="0" i="0" u="none" strike="noStrike">
                <a:solidFill>
                  <a:srgbClr val="111827"/>
                </a:solidFill>
                <a:latin typeface="+mn-lt"/>
              </a:rPr>
              <a:t>Havi bevétel és kiadás (2025, millió Ft)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Bevétel</c:v>
                </c:pt>
              </c:strCache>
            </c:strRef>
          </c:tx>
          <c:spPr>
            <a:solidFill>
              <a:srgbClr val="FF7A1A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Már</c:v>
                </c:pt>
                <c:pt idx="3">
                  <c:v>Ápr</c:v>
                </c:pt>
                <c:pt idx="4">
                  <c:v>Máj</c:v>
                </c:pt>
                <c:pt idx="5">
                  <c:v>Jún</c:v>
                </c:pt>
                <c:pt idx="6">
                  <c:v>Júl</c:v>
                </c:pt>
                <c:pt idx="7">
                  <c:v>Aug</c:v>
                </c:pt>
                <c:pt idx="8">
                  <c:v>Szep</c:v>
                </c:pt>
                <c:pt idx="9">
                  <c:v>Okt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1.18</c:v>
                </c:pt>
                <c:pt idx="1">
                  <c:v>1.24</c:v>
                </c:pt>
                <c:pt idx="2">
                  <c:v>1.42</c:v>
                </c:pt>
                <c:pt idx="3">
                  <c:v>1.35</c:v>
                </c:pt>
                <c:pt idx="4">
                  <c:v>1.51</c:v>
                </c:pt>
                <c:pt idx="5">
                  <c:v>1.48</c:v>
                </c:pt>
                <c:pt idx="6">
                  <c:v>1.39</c:v>
                </c:pt>
                <c:pt idx="7">
                  <c:v>1.56</c:v>
                </c:pt>
                <c:pt idx="8">
                  <c:v>1.72</c:v>
                </c:pt>
                <c:pt idx="9">
                  <c:v>1.69</c:v>
                </c:pt>
                <c:pt idx="10">
                  <c:v>1.83</c:v>
                </c:pt>
                <c:pt idx="11">
                  <c:v>2.0499999999999998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853-427D-9B5D-5FCA98AFE15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Kiadás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Már</c:v>
                </c:pt>
                <c:pt idx="3">
                  <c:v>Ápr</c:v>
                </c:pt>
                <c:pt idx="4">
                  <c:v>Máj</c:v>
                </c:pt>
                <c:pt idx="5">
                  <c:v>Jún</c:v>
                </c:pt>
                <c:pt idx="6">
                  <c:v>Júl</c:v>
                </c:pt>
                <c:pt idx="7">
                  <c:v>Aug</c:v>
                </c:pt>
                <c:pt idx="8">
                  <c:v>Szep</c:v>
                </c:pt>
                <c:pt idx="9">
                  <c:v>Okt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1.0589999999999999</c:v>
                </c:pt>
                <c:pt idx="1">
                  <c:v>1.077</c:v>
                </c:pt>
                <c:pt idx="2">
                  <c:v>1.1319999999999999</c:v>
                </c:pt>
                <c:pt idx="3">
                  <c:v>1.1100000000000001</c:v>
                </c:pt>
                <c:pt idx="4">
                  <c:v>1.159</c:v>
                </c:pt>
                <c:pt idx="5">
                  <c:v>1.1499999999999999</c:v>
                </c:pt>
                <c:pt idx="6">
                  <c:v>1.123</c:v>
                </c:pt>
                <c:pt idx="7">
                  <c:v>1.1739999999999999</c:v>
                </c:pt>
                <c:pt idx="8">
                  <c:v>1.2230000000000001</c:v>
                </c:pt>
                <c:pt idx="9">
                  <c:v>1.214</c:v>
                </c:pt>
                <c:pt idx="10">
                  <c:v>1.256</c:v>
                </c:pt>
                <c:pt idx="11">
                  <c:v>1.323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853-427D-9B5D-5FCA98AFE15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7556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.5"/>
          <c:min val="0"/>
        </c:scaling>
        <c:delete val="0"/>
        <c:axPos val="l"/>
        <c:majorGridlines>
          <c:spPr>
            <a:ln w="6350" cap="flat">
              <a:solidFill>
                <a:srgbClr val="D1D5DB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7556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7556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u-HU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11827"/>
                </a:solidFill>
                <a:latin typeface="+mn-lt"/>
              </a:defRPr>
            </a:pPr>
            <a:r>
              <a:rPr lang="hu-HU" sz="1300" b="0" i="0" u="none" strike="noStrike">
                <a:solidFill>
                  <a:srgbClr val="111827"/>
                </a:solidFill>
                <a:latin typeface="+mn-lt"/>
              </a:rPr>
              <a:t>Éves kiadás-megoszlás (2025)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Éves kiadás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7A1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80E-458E-A264-8D5D1CC84588}"/>
              </c:ext>
            </c:extLst>
          </c:dPt>
          <c:dPt>
            <c:idx val="1"/>
            <c:bubble3D val="0"/>
            <c:spPr>
              <a:solidFill>
                <a:srgbClr val="1F2A4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80E-458E-A264-8D5D1CC84588}"/>
              </c:ext>
            </c:extLst>
          </c:dPt>
          <c:dPt>
            <c:idx val="2"/>
            <c:bubble3D val="0"/>
            <c:spPr>
              <a:solidFill>
                <a:srgbClr val="14B8A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80E-458E-A264-8D5D1CC84588}"/>
              </c:ext>
            </c:extLst>
          </c:dPt>
          <c:dPt>
            <c:idx val="3"/>
            <c:bubble3D val="0"/>
            <c:spPr>
              <a:solidFill>
                <a:srgbClr val="FFB34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80E-458E-A264-8D5D1CC84588}"/>
              </c:ext>
            </c:extLst>
          </c:dPt>
          <c:dPt>
            <c:idx val="4"/>
            <c:bubble3D val="0"/>
            <c:spPr>
              <a:solidFill>
                <a:srgbClr val="47556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480E-458E-A264-8D5D1CC84588}"/>
              </c:ext>
            </c:extLst>
          </c:dPt>
          <c:dPt>
            <c:idx val="5"/>
            <c:bubble3D val="0"/>
            <c:spPr>
              <a:solidFill>
                <a:srgbClr val="9CA3A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480E-458E-A264-8D5D1CC84588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  <a:endParaRPr lang="hu-H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80E-458E-A264-8D5D1CC84588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  <a:endParaRPr lang="hu-H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80E-458E-A264-8D5D1CC84588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  <a:endParaRPr lang="hu-H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80E-458E-A264-8D5D1CC84588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  <a:endParaRPr lang="hu-H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80E-458E-A264-8D5D1CC84588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  <a:endParaRPr lang="hu-H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480E-458E-A264-8D5D1CC84588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  <a:endParaRPr lang="hu-HU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480E-458E-A264-8D5D1CC84588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hu-HU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Sheet1!$A$2:$A$7</c:f>
              <c:strCache>
                <c:ptCount val="6"/>
                <c:pt idx="0">
                  <c:v>Alkatrészek</c:v>
                </c:pt>
                <c:pt idx="1">
                  <c:v>Bérek és járulékok</c:v>
                </c:pt>
                <c:pt idx="2">
                  <c:v>Bérleti díj</c:v>
                </c:pt>
                <c:pt idx="3">
                  <c:v>Rezsi</c:v>
                </c:pt>
                <c:pt idx="4">
                  <c:v>Marketing</c:v>
                </c:pt>
                <c:pt idx="5">
                  <c:v>Egyéb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5600000</c:v>
                </c:pt>
                <c:pt idx="1">
                  <c:v>4800000</c:v>
                </c:pt>
                <c:pt idx="2">
                  <c:v>1920000</c:v>
                </c:pt>
                <c:pt idx="3">
                  <c:v>540000</c:v>
                </c:pt>
                <c:pt idx="4">
                  <c:v>480000</c:v>
                </c:pt>
                <c:pt idx="5">
                  <c:v>660000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480E-458E-A264-8D5D1CC845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75569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99812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Köszöntés, a vállalkozás bemutatása: a FixPont egy kitalált mobiltelefon-szerviz mikrovállalkozás.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küldetés lényege a gyorsaság és az átláthatóság. A három szám a vállalkozás ígéretei.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Hat fő szolgáltatási csoport. A részletes árakat a következő dián mutatjuk.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kezdő árak fix árak a leggyakoribb típusokra, a többi típusnál előzetes árajánlatot adunk.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Négy lépéses folyamat, minden lépésnél az átláthatóság a cél.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célcsoport tág, de a fő bázis a 18–40 éves, okostelefonra támaszkodó réteg.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két grafikon a forgalmi Excel munkafüzet (2. rész) Összesítés munkalapjáról származik: bal oldalt a havi bevétel és kiadás oszlopdiagramja, jobb oldalt az éves kiadás-megoszlás perec (fánk) diagramja. A diagramok ugyanazok, mint a forgalmi munkafüzetben.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Az adatok kitalált, a forgalmi Excel munkafüzetből (2. rész) származnak. Nyereség = bevétel – kiadás.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weblapról az összes projektdokumentum elérhető, az űrlap linkje is itt található.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Zárás, kapcsolati adatok. A cím és elérhetőségek kitalált.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463040"/>
            <a:ext cx="47548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l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rgbClr val="111827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FixPont Mobilszerviz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NT"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rgbClr val="111827"/>
                </a:solidFill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4754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FixPont Mobilszerviz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46304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</a:rPr>
              <a:t>FixPont Mobilszerviz</a:t>
            </a:r>
            <a:endParaRPr lang="en-US" sz="4000" dirty="0"/>
          </a:p>
        </p:txBody>
      </p:sp>
      <p:sp>
        <p:nvSpPr>
          <p:cNvPr id="3" name="alcím"/>
          <p:cNvSpPr txBox="1"/>
          <p:nvPr/>
        </p:nvSpPr>
        <p:spPr>
          <a:xfrm>
            <a:off x="548640" y="28803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3F4F6"/>
                </a:solidFill>
              </a:rPr>
              <a:t>Gyors, átlátható, garanciális mobiljavítás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97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A3AF"/>
                </a:solidFill>
              </a:rPr>
              <a:t>Vállalkozásbemutató  |  2026</a:t>
            </a:r>
            <a:endParaRPr lang="en-US" sz="1200" dirty="0"/>
          </a:p>
        </p:txBody>
      </p:sp>
      <p:pic>
        <p:nvPicPr>
          <p:cNvPr id="5" name="Image 0" descr="Okostelefon ellenőrző jelle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411480"/>
            <a:ext cx="374904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11827"/>
                </a:solidFill>
              </a:rPr>
              <a:t>Küldetésünk</a:t>
            </a:r>
            <a:endParaRPr lang="en-US" sz="3400" dirty="0"/>
          </a:p>
        </p:txBody>
      </p:sp>
      <p:sp>
        <p:nvSpPr>
          <p:cNvPr id="3" name="küldetés"/>
          <p:cNvSpPr txBox="1"/>
          <p:nvPr/>
        </p:nvSpPr>
        <p:spPr>
          <a:xfrm>
            <a:off x="548640" y="123444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Hogy ne kelljen napokig telefon nélkül maradni. A legtöbb hibát várakozás közben, a szemed előtt javítjuk meg – fix áron, garanciával.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74320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</a:rPr>
              <a:t>Kis csapat, nagy figyelem: minden javítás előtt ingyenes hibafelmérést adunk.</a:t>
            </a:r>
            <a:endParaRPr lang="en-US" sz="1400" dirty="0"/>
          </a:p>
        </p:txBody>
      </p:sp>
      <p:sp>
        <p:nvSpPr>
          <p:cNvPr id="5" name="kártya"/>
          <p:cNvSpPr/>
          <p:nvPr/>
        </p:nvSpPr>
        <p:spPr>
          <a:xfrm>
            <a:off x="5029200" y="1188720"/>
            <a:ext cx="365760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6" name="Text 4"/>
          <p:cNvSpPr txBox="1"/>
          <p:nvPr/>
        </p:nvSpPr>
        <p:spPr>
          <a:xfrm>
            <a:off x="5212080" y="12801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2540A"/>
                </a:solidFill>
              </a:rPr>
              <a:t>30 perc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667512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átlagos javítási idő gyakori hibáknál</a:t>
            </a:r>
            <a:endParaRPr lang="en-US" sz="1400" dirty="0"/>
          </a:p>
        </p:txBody>
      </p:sp>
      <p:sp>
        <p:nvSpPr>
          <p:cNvPr id="8" name="kártya"/>
          <p:cNvSpPr/>
          <p:nvPr/>
        </p:nvSpPr>
        <p:spPr>
          <a:xfrm>
            <a:off x="5029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Text 7"/>
          <p:cNvSpPr txBox="1"/>
          <p:nvPr/>
        </p:nvSpPr>
        <p:spPr>
          <a:xfrm>
            <a:off x="5212080" y="23774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2540A"/>
                </a:solidFill>
              </a:rPr>
              <a:t>6 hónap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23774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garancia alkatrészre és munkadíjra</a:t>
            </a:r>
            <a:endParaRPr lang="en-US" sz="1400" dirty="0"/>
          </a:p>
        </p:txBody>
      </p:sp>
      <p:sp>
        <p:nvSpPr>
          <p:cNvPr id="11" name="kártya"/>
          <p:cNvSpPr/>
          <p:nvPr/>
        </p:nvSpPr>
        <p:spPr>
          <a:xfrm>
            <a:off x="5029200" y="3383280"/>
            <a:ext cx="365760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2" name="Text 10"/>
          <p:cNvSpPr txBox="1"/>
          <p:nvPr/>
        </p:nvSpPr>
        <p:spPr>
          <a:xfrm>
            <a:off x="5212080" y="34747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2540A"/>
                </a:solidFill>
              </a:rPr>
              <a:t>2 fő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347472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</a:rPr>
              <a:t>szakember + 1 ügyfélkapcsolati munkatárs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11827"/>
                </a:solidFill>
              </a:rPr>
              <a:t>Szolgáltatásaink</a:t>
            </a:r>
            <a:endParaRPr lang="en-US" sz="3400" dirty="0"/>
          </a:p>
        </p:txBody>
      </p:sp>
      <p:sp>
        <p:nvSpPr>
          <p:cNvPr id="3" name="szolgáltatás-kártya"/>
          <p:cNvSpPr/>
          <p:nvPr/>
        </p:nvSpPr>
        <p:spPr>
          <a:xfrm>
            <a:off x="548640" y="1188720"/>
            <a:ext cx="2542032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4" name="ikon-kör"/>
          <p:cNvSpPr/>
          <p:nvPr/>
        </p:nvSpPr>
        <p:spPr>
          <a:xfrm>
            <a:off x="731520" y="1371600"/>
            <a:ext cx="502920" cy="50292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5" name="Image 0" descr="scre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149733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3716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Kijelzőcsere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116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</a:rPr>
              <a:t>Törött vagy hibás kijelző eredeti minőségű cseréje</a:t>
            </a:r>
            <a:endParaRPr lang="en-US" sz="1400" dirty="0"/>
          </a:p>
        </p:txBody>
      </p:sp>
      <p:sp>
        <p:nvSpPr>
          <p:cNvPr id="8" name="szolgáltatás-kártya"/>
          <p:cNvSpPr/>
          <p:nvPr/>
        </p:nvSpPr>
        <p:spPr>
          <a:xfrm>
            <a:off x="3273552" y="1188720"/>
            <a:ext cx="2542032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9" name="ikon-kör"/>
          <p:cNvSpPr/>
          <p:nvPr/>
        </p:nvSpPr>
        <p:spPr>
          <a:xfrm>
            <a:off x="3456432" y="1371600"/>
            <a:ext cx="502920" cy="50292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0" name="Image 1" descr="batter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2162" y="14973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96512" y="13716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Akkumulátorcsere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456432" y="20116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</a:rPr>
              <a:t>Gyors töltés-lemerülés probléma végleges megoldása</a:t>
            </a:r>
            <a:endParaRPr lang="en-US" sz="1400" dirty="0"/>
          </a:p>
        </p:txBody>
      </p:sp>
      <p:sp>
        <p:nvSpPr>
          <p:cNvPr id="13" name="szolgáltatás-kártya"/>
          <p:cNvSpPr/>
          <p:nvPr/>
        </p:nvSpPr>
        <p:spPr>
          <a:xfrm>
            <a:off x="5998464" y="1188720"/>
            <a:ext cx="2542032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4" name="ikon-kör"/>
          <p:cNvSpPr/>
          <p:nvPr/>
        </p:nvSpPr>
        <p:spPr>
          <a:xfrm>
            <a:off x="6181344" y="1371600"/>
            <a:ext cx="502920" cy="50292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5" name="Image 2" descr="plu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074" y="14973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21424" y="13716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Töltőcsatlakozó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181344" y="20116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</a:rPr>
              <a:t>Csatlakozó tisztítása vagy cseréje</a:t>
            </a:r>
            <a:endParaRPr lang="en-US" sz="1400" dirty="0"/>
          </a:p>
        </p:txBody>
      </p:sp>
      <p:sp>
        <p:nvSpPr>
          <p:cNvPr id="18" name="szolgáltatás-kártya"/>
          <p:cNvSpPr/>
          <p:nvPr/>
        </p:nvSpPr>
        <p:spPr>
          <a:xfrm>
            <a:off x="548640" y="2926080"/>
            <a:ext cx="2542032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9" name="ikon-kör"/>
          <p:cNvSpPr/>
          <p:nvPr/>
        </p:nvSpPr>
        <p:spPr>
          <a:xfrm>
            <a:off x="731520" y="3108960"/>
            <a:ext cx="502920" cy="50292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20" name="Image 3" descr="wate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250" y="323469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31089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Vízkár-kezelés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3749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</a:rPr>
              <a:t>Ultrahangos tisztítás és alaplap-diagnosztika</a:t>
            </a:r>
            <a:endParaRPr lang="en-US" sz="1400" dirty="0"/>
          </a:p>
        </p:txBody>
      </p:sp>
      <p:sp>
        <p:nvSpPr>
          <p:cNvPr id="23" name="szolgáltatás-kártya"/>
          <p:cNvSpPr/>
          <p:nvPr/>
        </p:nvSpPr>
        <p:spPr>
          <a:xfrm>
            <a:off x="3273552" y="2926080"/>
            <a:ext cx="2542032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4" name="ikon-kör"/>
          <p:cNvSpPr/>
          <p:nvPr/>
        </p:nvSpPr>
        <p:spPr>
          <a:xfrm>
            <a:off x="3456432" y="3108960"/>
            <a:ext cx="502920" cy="50292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25" name="Image 4" descr="bu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82162" y="3234690"/>
            <a:ext cx="251460" cy="2514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96512" y="31089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Szoftveres hibák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3456432" y="3749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</a:rPr>
              <a:t>Rendszerhelyreállítás, adatmentés, frissítés</a:t>
            </a:r>
            <a:endParaRPr lang="en-US" sz="1400" dirty="0"/>
          </a:p>
        </p:txBody>
      </p:sp>
      <p:sp>
        <p:nvSpPr>
          <p:cNvPr id="28" name="szolgáltatás-kártya"/>
          <p:cNvSpPr/>
          <p:nvPr/>
        </p:nvSpPr>
        <p:spPr>
          <a:xfrm>
            <a:off x="5998464" y="2926080"/>
            <a:ext cx="2542032" cy="1554480"/>
          </a:xfrm>
          <a:prstGeom prst="roundRect">
            <a:avLst>
              <a:gd name="adj" fmla="val 705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29" name="ikon-kör"/>
          <p:cNvSpPr/>
          <p:nvPr/>
        </p:nvSpPr>
        <p:spPr>
          <a:xfrm>
            <a:off x="6181344" y="3108960"/>
            <a:ext cx="502920" cy="50292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30" name="Image 5" descr="shiel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7074" y="3234690"/>
            <a:ext cx="251460" cy="25146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21424" y="310896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Védelem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6181344" y="37490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</a:rPr>
              <a:t>Üvegfólia és tok felhelyezése a javítás mellé</a:t>
            </a:r>
            <a:endParaRPr lang="en-US" sz="14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11827"/>
                </a:solidFill>
              </a:rPr>
              <a:t>Árlista</a:t>
            </a:r>
            <a:endParaRPr lang="en-US" sz="3400" dirty="0"/>
          </a:p>
        </p:txBody>
      </p:sp>
      <p:graphicFrame>
        <p:nvGraphicFramePr>
          <p:cNvPr id="5" name="árlista-tábláza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8046720" cy="292608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</a:rPr>
                        <a:t>Kijelzőcsere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</a:rPr>
                        <a:t>18 900 Ft-tól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</a:rPr>
                        <a:t>45–60 perc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</a:rPr>
                        <a:t>Akkumulátorcsere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</a:rPr>
                        <a:t>9 900 Ft-tól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</a:rPr>
                        <a:t>20–30 perc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</a:rPr>
                        <a:t>Töltőcsatlakozó csere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</a:rPr>
                        <a:t>8 900 Ft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</a:rPr>
                        <a:t>30–40 perc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</a:rPr>
                        <a:t>Hátlapcsere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</a:rPr>
                        <a:t>11 900 Ft-tól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</a:rPr>
                        <a:t>40 perc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</a:rPr>
                        <a:t>Vízkár-kezelés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</a:rPr>
                        <a:t>12 900 Ft-tól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</a:rPr>
                        <a:t>1–2 nap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</a:rPr>
                        <a:t>Szoftveres hibaelhárítás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</a:rPr>
                        <a:t>5 900 Ft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</a:rPr>
                        <a:t>30 perc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</a:rPr>
                        <a:t>Hibafelmérés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111827"/>
                          </a:solidFill>
                        </a:rPr>
                        <a:t>Javításnál ingyenes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11827"/>
                          </a:solidFill>
                        </a:rPr>
                        <a:t>10 perc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</a:rPr>
              <a:t>Az árak tájékoztató jellegűek, a végleges ár típusfüggő. Minden ár tartalmazza az ÁFA-t.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11827"/>
                </a:solidFill>
              </a:rPr>
              <a:t>Így dolgozunk</a:t>
            </a:r>
            <a:endParaRPr lang="en-US" sz="3400" dirty="0"/>
          </a:p>
        </p:txBody>
      </p:sp>
      <p:sp>
        <p:nvSpPr>
          <p:cNvPr id="3" name="lépés-kártya"/>
          <p:cNvSpPr/>
          <p:nvPr/>
        </p:nvSpPr>
        <p:spPr>
          <a:xfrm>
            <a:off x="548640" y="1280160"/>
            <a:ext cx="1874520" cy="25603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4" name="ikon-kör"/>
          <p:cNvSpPr/>
          <p:nvPr/>
        </p:nvSpPr>
        <p:spPr>
          <a:xfrm>
            <a:off x="1188720" y="1463040"/>
            <a:ext cx="594360" cy="59436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5" name="Image 0" descr="mobi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7310" y="161163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85800" y="22402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1. Bejelentkezés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74320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</a:rPr>
              <a:t>Online foglalás vagy személyes bejövetel</a:t>
            </a:r>
            <a:endParaRPr lang="en-US" sz="1400" dirty="0"/>
          </a:p>
        </p:txBody>
      </p:sp>
      <p:sp>
        <p:nvSpPr>
          <p:cNvPr id="8" name="lépés-kártya"/>
          <p:cNvSpPr/>
          <p:nvPr/>
        </p:nvSpPr>
        <p:spPr>
          <a:xfrm>
            <a:off x="2606040" y="1280160"/>
            <a:ext cx="1874520" cy="25603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9" name="ikon-kör"/>
          <p:cNvSpPr/>
          <p:nvPr/>
        </p:nvSpPr>
        <p:spPr>
          <a:xfrm>
            <a:off x="3246120" y="1463040"/>
            <a:ext cx="594360" cy="59436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0" name="Image 1" descr="wrench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4710" y="161163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743200" y="22402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2. Hibafelmérés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2743200" y="274320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</a:rPr>
              <a:t>Ingyenes diagnosztika, fix árajánlat</a:t>
            </a:r>
            <a:endParaRPr lang="en-US" sz="1400" dirty="0"/>
          </a:p>
        </p:txBody>
      </p:sp>
      <p:sp>
        <p:nvSpPr>
          <p:cNvPr id="13" name="lépés-kártya"/>
          <p:cNvSpPr/>
          <p:nvPr/>
        </p:nvSpPr>
        <p:spPr>
          <a:xfrm>
            <a:off x="4663440" y="1280160"/>
            <a:ext cx="1874520" cy="25603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4" name="ikon-kör"/>
          <p:cNvSpPr/>
          <p:nvPr/>
        </p:nvSpPr>
        <p:spPr>
          <a:xfrm>
            <a:off x="5303520" y="1463040"/>
            <a:ext cx="594360" cy="59436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5" name="Image 2" descr="tool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2110" y="1611630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800600" y="22402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3. Javítás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4800600" y="274320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</a:rPr>
              <a:t>Többnyire várakozás közben, 30–60 perc</a:t>
            </a:r>
            <a:endParaRPr lang="en-US" sz="1400" dirty="0"/>
          </a:p>
        </p:txBody>
      </p:sp>
      <p:sp>
        <p:nvSpPr>
          <p:cNvPr id="18" name="lépés-kártya"/>
          <p:cNvSpPr/>
          <p:nvPr/>
        </p:nvSpPr>
        <p:spPr>
          <a:xfrm>
            <a:off x="6720840" y="1280160"/>
            <a:ext cx="1874520" cy="2560320"/>
          </a:xfrm>
          <a:prstGeom prst="roundRect">
            <a:avLst>
              <a:gd name="adj" fmla="val 585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9" name="ikon-kör"/>
          <p:cNvSpPr/>
          <p:nvPr/>
        </p:nvSpPr>
        <p:spPr>
          <a:xfrm>
            <a:off x="7360920" y="1463040"/>
            <a:ext cx="594360" cy="59436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20" name="Image 3" descr="chec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09510" y="1611630"/>
            <a:ext cx="297180" cy="2971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858000" y="224028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tx1"/>
                </a:solidFill>
              </a:rPr>
              <a:t>4. Átadás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0" y="2743200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</a:rPr>
              <a:t>Tesztelés, számla és 6 hónap garancia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11827"/>
                </a:solidFill>
              </a:rPr>
              <a:t>Miért a FixPont?</a:t>
            </a:r>
            <a:endParaRPr lang="en-US" sz="3400" dirty="0"/>
          </a:p>
        </p:txBody>
      </p:sp>
      <p:sp>
        <p:nvSpPr>
          <p:cNvPr id="3" name="ikon-kör"/>
          <p:cNvSpPr/>
          <p:nvPr/>
        </p:nvSpPr>
        <p:spPr>
          <a:xfrm>
            <a:off x="548640" y="1325880"/>
            <a:ext cx="640080" cy="64008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4" name="Image 0" descr="clo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" y="148590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234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Gyorsaság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417320" y="16459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</a:rPr>
              <a:t>A gyakori hibák többségét még aznap megjavítjuk.</a:t>
            </a:r>
            <a:endParaRPr lang="en-US" sz="1400" dirty="0"/>
          </a:p>
        </p:txBody>
      </p:sp>
      <p:sp>
        <p:nvSpPr>
          <p:cNvPr id="7" name="ikon-kör"/>
          <p:cNvSpPr/>
          <p:nvPr/>
        </p:nvSpPr>
        <p:spPr>
          <a:xfrm>
            <a:off x="548640" y="2377440"/>
            <a:ext cx="640080" cy="64008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8" name="Image 1" descr="shield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660" y="2537460"/>
            <a:ext cx="320040" cy="3200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7320" y="22860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Garancia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1417320" y="26974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</a:rPr>
              <a:t>6 hónap garancia – írásban, a számlán.</a:t>
            </a:r>
            <a:endParaRPr lang="en-US" sz="1400" dirty="0"/>
          </a:p>
        </p:txBody>
      </p:sp>
      <p:sp>
        <p:nvSpPr>
          <p:cNvPr id="11" name="ikon-kör"/>
          <p:cNvSpPr/>
          <p:nvPr/>
        </p:nvSpPr>
        <p:spPr>
          <a:xfrm>
            <a:off x="548640" y="3429000"/>
            <a:ext cx="640080" cy="64008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2" name="Image 2" descr="user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" y="35890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17320" y="33375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Személyes kapcsolat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1417320" y="37490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</a:rPr>
              <a:t>Kis csapat, közvetlen kapcsolat, nincs ügyfélszolgálati labirintus.</a:t>
            </a:r>
            <a:endParaRPr lang="en-US" sz="1400" dirty="0"/>
          </a:p>
        </p:txBody>
      </p:sp>
      <p:sp>
        <p:nvSpPr>
          <p:cNvPr id="15" name="célcsoport-kártya"/>
          <p:cNvSpPr/>
          <p:nvPr/>
        </p:nvSpPr>
        <p:spPr>
          <a:xfrm>
            <a:off x="5120640" y="1234440"/>
            <a:ext cx="3474720" cy="3108960"/>
          </a:xfrm>
          <a:prstGeom prst="roundRect">
            <a:avLst>
              <a:gd name="adj" fmla="val 4412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6" name="Text 11"/>
          <p:cNvSpPr txBox="1"/>
          <p:nvPr/>
        </p:nvSpPr>
        <p:spPr>
          <a:xfrm>
            <a:off x="5394960" y="1417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B347"/>
                </a:solidFill>
              </a:rPr>
              <a:t>Célcsoportunk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5394960" y="1920240"/>
            <a:ext cx="2926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Diákok és fiatal felnőttek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Dolgozók, akiknek a telefon munkaeszköz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Családok, idősebb felhasználók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11827"/>
                </a:solidFill>
              </a:rPr>
              <a:t>Forgalmi adataink</a:t>
            </a:r>
            <a:endParaRPr lang="en-US" sz="3400" dirty="0"/>
          </a:p>
        </p:txBody>
      </p:sp>
      <p:sp>
        <p:nvSpPr>
          <p:cNvPr id="3" name="chart-kártya-1"/>
          <p:cNvSpPr/>
          <p:nvPr/>
        </p:nvSpPr>
        <p:spPr>
          <a:xfrm>
            <a:off x="457200" y="1097280"/>
            <a:ext cx="5029200" cy="3520440"/>
          </a:xfrm>
          <a:prstGeom prst="roundRect">
            <a:avLst>
              <a:gd name="adj" fmla="val 259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143000"/>
          <a:ext cx="484632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hart-kártya-2"/>
          <p:cNvSpPr/>
          <p:nvPr/>
        </p:nvSpPr>
        <p:spPr>
          <a:xfrm>
            <a:off x="5623560" y="1097280"/>
            <a:ext cx="3063240" cy="3520440"/>
          </a:xfrm>
          <a:prstGeom prst="roundRect">
            <a:avLst>
              <a:gd name="adj" fmla="val 298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graphicFrame>
        <p:nvGraphicFramePr>
          <p:cNvPr id="6" name="Chart 1"/>
          <p:cNvGraphicFramePr/>
          <p:nvPr/>
        </p:nvGraphicFramePr>
        <p:xfrm>
          <a:off x="5669280" y="1143000"/>
          <a:ext cx="297180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11827"/>
                </a:solidFill>
              </a:rPr>
              <a:t>Az első év számokban</a:t>
            </a:r>
            <a:endParaRPr lang="en-US" sz="3400" dirty="0"/>
          </a:p>
        </p:txBody>
      </p:sp>
      <p:sp>
        <p:nvSpPr>
          <p:cNvPr id="3" name="mutató-kártya"/>
          <p:cNvSpPr/>
          <p:nvPr/>
        </p:nvSpPr>
        <p:spPr>
          <a:xfrm>
            <a:off x="548640" y="1188720"/>
            <a:ext cx="393192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4" name="ikon-kör"/>
          <p:cNvSpPr/>
          <p:nvPr/>
        </p:nvSpPr>
        <p:spPr>
          <a:xfrm>
            <a:off x="777240" y="1508760"/>
            <a:ext cx="548640" cy="54864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5" name="Image 0" descr="cha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64592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371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</a:rPr>
              <a:t>Éves bevétel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7373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</a:rPr>
              <a:t>18,42 M Ft</a:t>
            </a:r>
            <a:endParaRPr lang="en-US" sz="2400" dirty="0"/>
          </a:p>
        </p:txBody>
      </p:sp>
      <p:sp>
        <p:nvSpPr>
          <p:cNvPr id="8" name="mutató-kártya"/>
          <p:cNvSpPr/>
          <p:nvPr/>
        </p:nvSpPr>
        <p:spPr>
          <a:xfrm>
            <a:off x="4663440" y="1188720"/>
            <a:ext cx="393192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9" name="ikon-kör"/>
          <p:cNvSpPr/>
          <p:nvPr/>
        </p:nvSpPr>
        <p:spPr>
          <a:xfrm>
            <a:off x="4892040" y="1508760"/>
            <a:ext cx="548640" cy="54864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0" name="Image 1" descr="tool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6459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669280" y="1371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</a:rPr>
              <a:t>Éves kiadás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669280" y="17373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</a:rPr>
              <a:t>14,00 M Ft</a:t>
            </a:r>
            <a:endParaRPr lang="en-US" sz="2400" dirty="0"/>
          </a:p>
        </p:txBody>
      </p:sp>
      <p:sp>
        <p:nvSpPr>
          <p:cNvPr id="13" name="mutató-kártya"/>
          <p:cNvSpPr/>
          <p:nvPr/>
        </p:nvSpPr>
        <p:spPr>
          <a:xfrm>
            <a:off x="548640" y="2560320"/>
            <a:ext cx="393192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4" name="ikon-kör"/>
          <p:cNvSpPr/>
          <p:nvPr/>
        </p:nvSpPr>
        <p:spPr>
          <a:xfrm>
            <a:off x="777240" y="2880360"/>
            <a:ext cx="548640" cy="54864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5" name="Image 2" descr="chec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01752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54480" y="2743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</a:rPr>
              <a:t>Nyereség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554480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</a:rPr>
              <a:t>4,42 M Ft</a:t>
            </a:r>
            <a:endParaRPr lang="en-US" sz="2400" dirty="0"/>
          </a:p>
        </p:txBody>
      </p:sp>
      <p:sp>
        <p:nvSpPr>
          <p:cNvPr id="18" name="mutató-kártya"/>
          <p:cNvSpPr/>
          <p:nvPr/>
        </p:nvSpPr>
        <p:spPr>
          <a:xfrm>
            <a:off x="4663440" y="2560320"/>
            <a:ext cx="393192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sp>
        <p:nvSpPr>
          <p:cNvPr id="19" name="ikon-kör"/>
          <p:cNvSpPr/>
          <p:nvPr/>
        </p:nvSpPr>
        <p:spPr>
          <a:xfrm>
            <a:off x="4892040" y="2880360"/>
            <a:ext cx="548640" cy="54864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20" name="Image 3" descr="sta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3017520"/>
            <a:ext cx="274320" cy="2743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669280" y="2743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</a:rPr>
              <a:t>Legjobb hónap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5669280" y="31089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tx1"/>
                </a:solidFill>
              </a:rPr>
              <a:t>December: 2,05 M Ft</a:t>
            </a:r>
            <a:endParaRPr lang="en-US" sz="24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39776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</a:rPr>
              <a:t>Az átlagos havi bevétel 1,53 M Ft; az év második felében a forgalom a szezonális keresletnek köszönhetően nő (új telefonok, téli időszak).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11827"/>
                </a:solidFill>
              </a:rPr>
              <a:t>Digitális jelenlétünk</a:t>
            </a:r>
            <a:endParaRPr lang="en-US" sz="3400" dirty="0"/>
          </a:p>
        </p:txBody>
      </p:sp>
      <p:sp>
        <p:nvSpPr>
          <p:cNvPr id="3" name="digitális-kártya"/>
          <p:cNvSpPr/>
          <p:nvPr/>
        </p:nvSpPr>
        <p:spPr>
          <a:xfrm>
            <a:off x="548640" y="128016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4" name="ikon-kör"/>
          <p:cNvSpPr/>
          <p:nvPr/>
        </p:nvSpPr>
        <p:spPr>
          <a:xfrm>
            <a:off x="777240" y="1508760"/>
            <a:ext cx="594360" cy="59436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5" name="Image 0" descr="mobi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1657350"/>
            <a:ext cx="297180" cy="2971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286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Promóciós weblap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78892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</a:rPr>
              <a:t>Egyoldalas oldal: szolgáltatások, árak, </a:t>
            </a:r>
            <a:r>
              <a:rPr lang="en-US" sz="1400" dirty="0" err="1">
                <a:solidFill>
                  <a:srgbClr val="475569"/>
                </a:solidFill>
              </a:rPr>
              <a:t>kapcsolat</a:t>
            </a:r>
            <a:r>
              <a:rPr lang="en-US" sz="1400" dirty="0">
                <a:solidFill>
                  <a:srgbClr val="475569"/>
                </a:solidFill>
              </a:rPr>
              <a:t> </a:t>
            </a:r>
            <a:r>
              <a:rPr lang="en-US" sz="1400" dirty="0" err="1">
                <a:solidFill>
                  <a:srgbClr val="475569"/>
                </a:solidFill>
              </a:rPr>
              <a:t>és</a:t>
            </a:r>
            <a:r>
              <a:rPr lang="en-US" sz="1400" dirty="0">
                <a:solidFill>
                  <a:srgbClr val="475569"/>
                </a:solidFill>
              </a:rPr>
              <a:t> minden projektdokumentum egy helyen.</a:t>
            </a:r>
            <a:endParaRPr lang="en-US" sz="1400" dirty="0"/>
          </a:p>
        </p:txBody>
      </p:sp>
      <p:sp>
        <p:nvSpPr>
          <p:cNvPr id="8" name="digitális-kártya"/>
          <p:cNvSpPr/>
          <p:nvPr/>
        </p:nvSpPr>
        <p:spPr>
          <a:xfrm>
            <a:off x="3291840" y="128016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9" name="ikon-kör"/>
          <p:cNvSpPr/>
          <p:nvPr/>
        </p:nvSpPr>
        <p:spPr>
          <a:xfrm>
            <a:off x="3520440" y="1508760"/>
            <a:ext cx="594360" cy="59436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0" name="Image 1" descr="for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9030" y="1657350"/>
            <a:ext cx="297180" cy="2971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2286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Elégedettségi űrlap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520440" y="278892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</a:rPr>
              <a:t>Online </a:t>
            </a:r>
            <a:r>
              <a:rPr lang="en-US" sz="1400" dirty="0" err="1">
                <a:solidFill>
                  <a:srgbClr val="475569"/>
                </a:solidFill>
              </a:rPr>
              <a:t>űrlap</a:t>
            </a:r>
            <a:r>
              <a:rPr lang="en-US" sz="1400" dirty="0">
                <a:solidFill>
                  <a:srgbClr val="475569"/>
                </a:solidFill>
              </a:rPr>
              <a:t>, amellyel az ügyfelek értékelhetik a szolgáltatást.</a:t>
            </a:r>
            <a:endParaRPr lang="en-US" sz="1400" dirty="0"/>
          </a:p>
        </p:txBody>
      </p:sp>
      <p:sp>
        <p:nvSpPr>
          <p:cNvPr id="13" name="digitális-kártya"/>
          <p:cNvSpPr/>
          <p:nvPr/>
        </p:nvSpPr>
        <p:spPr>
          <a:xfrm>
            <a:off x="6035040" y="128016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hu-HU"/>
          </a:p>
        </p:txBody>
      </p:sp>
      <p:sp>
        <p:nvSpPr>
          <p:cNvPr id="14" name="ikon-kör"/>
          <p:cNvSpPr/>
          <p:nvPr/>
        </p:nvSpPr>
        <p:spPr>
          <a:xfrm>
            <a:off x="6263640" y="1508760"/>
            <a:ext cx="594360" cy="594360"/>
          </a:xfrm>
          <a:prstGeom prst="ellipse">
            <a:avLst/>
          </a:prstGeom>
          <a:solidFill>
            <a:srgbClr val="FF7A1A"/>
          </a:solidFill>
          <a:ln w="12700">
            <a:solidFill>
              <a:srgbClr val="FF7A1A"/>
            </a:solidFill>
            <a:prstDash val="solid"/>
          </a:ln>
        </p:spPr>
        <p:txBody>
          <a:bodyPr/>
          <a:lstStyle/>
          <a:p>
            <a:endParaRPr lang="hu-HU"/>
          </a:p>
        </p:txBody>
      </p:sp>
      <p:pic>
        <p:nvPicPr>
          <p:cNvPr id="15" name="Image 2" descr="cha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12230" y="1657350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63640" y="2286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Dokumentumok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263640" y="278892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 err="1">
                <a:solidFill>
                  <a:srgbClr val="475569"/>
                </a:solidFill>
              </a:rPr>
              <a:t>Cégbemutató</a:t>
            </a:r>
            <a:r>
              <a:rPr lang="en-US" sz="1400" dirty="0">
                <a:solidFill>
                  <a:srgbClr val="475569"/>
                </a:solidFill>
              </a:rPr>
              <a:t>, forgalmi </a:t>
            </a:r>
            <a:r>
              <a:rPr lang="en-US" sz="1400" dirty="0" err="1">
                <a:solidFill>
                  <a:srgbClr val="475569"/>
                </a:solidFill>
              </a:rPr>
              <a:t>munkafüzet</a:t>
            </a:r>
            <a:r>
              <a:rPr lang="en-US" sz="1400" dirty="0">
                <a:solidFill>
                  <a:srgbClr val="475569"/>
                </a:solidFill>
              </a:rPr>
              <a:t> , PPT és projekt alapító dokumentum.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46304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</a:rPr>
              <a:t>Köszönjük a figyelmet!</a:t>
            </a:r>
            <a:endParaRPr lang="en-US" sz="4000" dirty="0"/>
          </a:p>
        </p:txBody>
      </p:sp>
      <p:pic>
        <p:nvPicPr>
          <p:cNvPr id="3" name="Image 0" descr="p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71800"/>
            <a:ext cx="228600" cy="2286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60120" y="29260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</a:rPr>
              <a:t>1111 Budapest, Minta utca 12.</a:t>
            </a:r>
            <a:endParaRPr lang="en-US" sz="1400" dirty="0"/>
          </a:p>
        </p:txBody>
      </p:sp>
      <p:pic>
        <p:nvPicPr>
          <p:cNvPr id="5" name="Image 1" descr="phon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355848"/>
            <a:ext cx="228600" cy="2286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60120" y="33101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</a:rPr>
              <a:t>+36 30 000 0000</a:t>
            </a:r>
            <a:endParaRPr lang="en-US" sz="1400" dirty="0"/>
          </a:p>
        </p:txBody>
      </p:sp>
      <p:pic>
        <p:nvPicPr>
          <p:cNvPr id="7" name="Image 2" descr="mai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739896"/>
            <a:ext cx="228600" cy="22860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60120" y="3694176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</a:rPr>
              <a:t>info@fixpont.example</a:t>
            </a:r>
            <a:endParaRPr lang="en-US" sz="1400" dirty="0"/>
          </a:p>
        </p:txBody>
      </p:sp>
      <p:pic>
        <p:nvPicPr>
          <p:cNvPr id="9" name="Image 3" descr="cloc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123944"/>
            <a:ext cx="228600" cy="2286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960120" y="407822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3F4F6"/>
                </a:solidFill>
              </a:rPr>
              <a:t>H–P 9–18, Szo 9–13</a:t>
            </a:r>
            <a:endParaRPr lang="en-US" sz="1400" dirty="0"/>
          </a:p>
        </p:txBody>
      </p:sp>
      <p:pic>
        <p:nvPicPr>
          <p:cNvPr id="11" name="Image 4" descr="Okostelefon ellenőrző jellel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4960" y="640080"/>
            <a:ext cx="3291840" cy="36118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ixPont">
  <a:themeElements>
    <a:clrScheme name="FixPont">
      <a:dk1>
        <a:srgbClr val="111827"/>
      </a:dk1>
      <a:lt1>
        <a:srgbClr val="FFFFFF"/>
      </a:lt1>
      <a:dk2>
        <a:srgbClr val="1F2A44"/>
      </a:dk2>
      <a:lt2>
        <a:srgbClr val="F3F4F6"/>
      </a:lt2>
      <a:accent1>
        <a:srgbClr val="FF7A1A"/>
      </a:accent1>
      <a:accent2>
        <a:srgbClr val="1F2A44"/>
      </a:accent2>
      <a:accent3>
        <a:srgbClr val="14B8A6"/>
      </a:accent3>
      <a:accent4>
        <a:srgbClr val="FFB347"/>
      </a:accent4>
      <a:accent5>
        <a:srgbClr val="475569"/>
      </a:accent5>
      <a:accent6>
        <a:srgbClr val="9CA3AF"/>
      </a:accent6>
      <a:hlink>
        <a:srgbClr val="C2540A"/>
      </a:hlink>
      <a:folHlink>
        <a:srgbClr val="475569"/>
      </a:folHlink>
    </a:clrScheme>
    <a:fontScheme name="FixPon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595</Words>
  <Application>Microsoft Office PowerPoint</Application>
  <PresentationFormat>Diavetítés a képernyőre (16:9 oldalarány)</PresentationFormat>
  <Paragraphs>127</Paragraphs>
  <Slides>10</Slides>
  <Notes>10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10</vt:i4>
      </vt:variant>
    </vt:vector>
  </HeadingPairs>
  <TitlesOfParts>
    <vt:vector size="13" baseType="lpstr">
      <vt:lpstr>Arial</vt:lpstr>
      <vt:lpstr>Calibri</vt:lpstr>
      <vt:lpstr>FixPont</vt:lpstr>
      <vt:lpstr>FixPont Mobilszerviz</vt:lpstr>
      <vt:lpstr>Küldetésünk</vt:lpstr>
      <vt:lpstr>Szolgáltatásaink</vt:lpstr>
      <vt:lpstr>Árlista</vt:lpstr>
      <vt:lpstr>Így dolgozunk</vt:lpstr>
      <vt:lpstr>Miért a FixPont?</vt:lpstr>
      <vt:lpstr>Forgalmi adataink</vt:lpstr>
      <vt:lpstr>Az első év számokban</vt:lpstr>
      <vt:lpstr>Digitális jelenlétünk</vt:lpstr>
      <vt:lpstr>Köszönjük a figyelmet!</vt:lpstr>
    </vt:vector>
  </TitlesOfParts>
  <Company>FixPont Mobilszerviz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FixPont Mobilszerviz – bemutató</dc:title>
  <dc:subject>PptxGenJS Presentation</dc:subject>
  <dc:creator>FixPont csapat</dc:creator>
  <cp:lastModifiedBy>Riskó Bence Zsolt (Z18W7O)</cp:lastModifiedBy>
  <cp:revision>2</cp:revision>
  <dcterms:created xsi:type="dcterms:W3CDTF">2026-10-25T09:18:43Z</dcterms:created>
  <dcterms:modified xsi:type="dcterms:W3CDTF">2026-10-25T09:46:34Z</dcterms:modified>
</cp:coreProperties>
</file>